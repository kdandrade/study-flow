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2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" Type="http://schemas.openxmlformats.org/officeDocument/2006/relationships/image" Target="../media/image9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8990" y="2471737"/>
            <a:ext cx="4221509" cy="191452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2017514"/>
            <a:ext cx="633219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0BCD4"/>
                </a:solidFill>
                <a:latin typeface="Inter"/>
              </a:rPr>
              <a:t>CENTRO UNIVERSITÁRIO 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93739"/>
            <a:ext cx="6648799" cy="1051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sz="3600" b="1" i="0" u="none">
                <a:solidFill>
                  <a:srgbClr val="0F172A"/>
                </a:solidFill>
                <a:latin typeface="Poppins"/>
              </a:rPr>
              <a:t>Garantia da Qualidade</a:t>
            </a:r>
            <a:r>
              <a:t>
</a:t>
            </a:r>
            <a:r>
              <a:rPr sz="3600" b="1" i="0" u="none">
                <a:solidFill>
                  <a:srgbClr val="0F172A"/>
                </a:solidFill>
                <a:latin typeface="Poppins"/>
              </a:rPr>
              <a:t> de 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497460"/>
            <a:ext cx="633219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Inter Medium"/>
              </a:rPr>
              <a:t>E-commerce B2C de Cursos e Conteúdos Digitais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697610"/>
            <a:ext cx="633219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Apresentação elaborada conforme o roteiro da Atividade III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720" y="3852862"/>
            <a:ext cx="22479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64748B"/>
                </a:solidFill>
                <a:latin typeface="Inter"/>
              </a:rPr>
              <a:t>PLATAFORMA EDUCACIONAL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992760"/>
            <a:ext cx="1962150" cy="3238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2250" y="3992760"/>
            <a:ext cx="1028700" cy="3238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5250" y="3992760"/>
            <a:ext cx="495300" cy="3238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4850" y="3992760"/>
            <a:ext cx="971550" cy="3238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09570" y="3128962"/>
            <a:ext cx="476250" cy="381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300120" y="2862262"/>
            <a:ext cx="10096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0F172A"/>
                </a:solidFill>
                <a:latin typeface="Poppins"/>
              </a:rPr>
              <a:t>STUDY</a:t>
            </a:r>
            <a:r>
              <a:t>
</a:t>
            </a:r>
            <a:r>
              <a:rPr sz="2400" b="1" i="0" u="none">
                <a:solidFill>
                  <a:srgbClr val="00BCD4"/>
                </a:solidFill>
                <a:latin typeface="Poppins"/>
              </a:rPr>
              <a:t>FLOW</a:t>
            </a:r>
          </a:p>
        </p:txBody>
      </p:sp>
    </p:spTree>
    <p:extLst>
      <p:ext uri="{BB962C8B-B14F-4D97-AF65-F5344CB8AC3E}">
        <p14:creationId xmlns:p14="http://schemas.microsoft.com/office/powerpoint/2010/main" val="1147035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5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82B48"/>
                </a:solidFill>
                <a:latin typeface="Aptos Display"/>
              </a:rPr>
              <a:t>1. Problema e escopo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87789"/>
                </a:solidFill>
              </a:rPr>
              <a:t>E-commerce B2C para comercialização e consumo de cursos digitais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2823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87789"/>
                </a:solidFill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5303520" cy="1874519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325880"/>
            <a:ext cx="64008" cy="1874519"/>
          </a:xfrm>
          <a:prstGeom prst="rect">
            <a:avLst/>
          </a:prstGeom>
          <a:solidFill>
            <a:srgbClr val="275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472184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82B48"/>
                </a:solidFill>
                <a:latin typeface="Aptos"/>
              </a:rPr>
              <a:t>Problema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56231"/>
            <a:ext cx="4983480" cy="1234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22A34"/>
                </a:solidFill>
                <a:latin typeface="Aptos"/>
              </a:rPr>
              <a:t>Centralizar em uma única plataforma a descoberta, compra, pagamento e acesso a cursos e conteúdos digitais, com segurança e acompanhamento do progresso.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440680" cy="1874519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325880"/>
            <a:ext cx="64008" cy="1874519"/>
          </a:xfrm>
          <a:prstGeom prst="rect">
            <a:avLst/>
          </a:prstGeom>
          <a:solidFill>
            <a:srgbClr val="409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1472184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82B48"/>
                </a:solidFill>
                <a:latin typeface="Aptos"/>
              </a:rPr>
              <a:t>Escopo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856231"/>
            <a:ext cx="5120640" cy="1234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22A34"/>
                </a:solidFill>
                <a:latin typeface="Aptos"/>
              </a:rPr>
              <a:t>Cadastro e autenticação; catálogo; gestão de cursos; carrinho e checkout; pagamentos; matrícula; conteúdo; progresso; avaliações; suporte e relatórios.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5204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82B48"/>
                </a:solidFill>
                <a:latin typeface="Aptos"/>
              </a:rPr>
              <a:t>Principais atores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140170"/>
            <a:ext cx="1508400" cy="568800"/>
          </a:xfrm>
          <a:prstGeom prst="roundRect">
            <a:avLst/>
          </a:prstGeom>
          <a:solidFill>
            <a:srgbClr val="275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1501" y="4291379"/>
            <a:ext cx="1205558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dirty="0" err="1">
                <a:solidFill>
                  <a:srgbClr val="FFFFFF"/>
                </a:solidFill>
                <a:latin typeface="Aptos"/>
              </a:rPr>
              <a:t>Cliente</a:t>
            </a:r>
            <a:r>
              <a:rPr sz="1000" b="1" dirty="0">
                <a:solidFill>
                  <a:srgbClr val="FFFFFF"/>
                </a:solidFill>
                <a:latin typeface="Aptos"/>
              </a:rPr>
              <a:t> / </a:t>
            </a:r>
            <a:r>
              <a:rPr sz="1000" b="1" dirty="0" err="1">
                <a:solidFill>
                  <a:srgbClr val="FFFFFF"/>
                </a:solidFill>
                <a:latin typeface="Aptos"/>
              </a:rPr>
              <a:t>Aluno</a:t>
            </a:r>
            <a:endParaRPr sz="10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438400" y="4140170"/>
            <a:ext cx="1508400" cy="568800"/>
          </a:xfrm>
          <a:prstGeom prst="roundRect">
            <a:avLst/>
          </a:prstGeom>
          <a:solidFill>
            <a:srgbClr val="409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88560" y="4298937"/>
            <a:ext cx="797582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dirty="0" err="1">
                <a:solidFill>
                  <a:srgbClr val="FFFFFF"/>
                </a:solidFill>
                <a:latin typeface="Aptos"/>
              </a:rPr>
              <a:t>Instrutor</a:t>
            </a:r>
            <a:endParaRPr sz="10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257368" y="4140170"/>
            <a:ext cx="1508400" cy="568800"/>
          </a:xfrm>
          <a:prstGeom prst="roundRect">
            <a:avLst/>
          </a:prstGeom>
          <a:solidFill>
            <a:srgbClr val="398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77369" y="4306824"/>
            <a:ext cx="1068398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dirty="0" err="1">
                <a:solidFill>
                  <a:srgbClr val="FFFFFF"/>
                </a:solidFill>
                <a:latin typeface="Aptos"/>
              </a:rPr>
              <a:t>Administrador</a:t>
            </a:r>
            <a:endParaRPr sz="10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00800" y="352044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82B48"/>
                </a:solidFill>
                <a:latin typeface="Aptos"/>
              </a:rPr>
              <a:t>Fluxo principal do negócio</a:t>
            </a:r>
          </a:p>
        </p:txBody>
      </p:sp>
      <p:sp>
        <p:nvSpPr>
          <p:cNvPr id="23" name="Rounded Rectangle 22"/>
          <p:cNvSpPr>
            <a:spLocks/>
          </p:cNvSpPr>
          <p:nvPr/>
        </p:nvSpPr>
        <p:spPr>
          <a:xfrm>
            <a:off x="6263640" y="4023360"/>
            <a:ext cx="1508760" cy="566928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>
            <a:spLocks/>
          </p:cNvSpPr>
          <p:nvPr/>
        </p:nvSpPr>
        <p:spPr>
          <a:xfrm>
            <a:off x="6336792" y="4165090"/>
            <a:ext cx="256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dirty="0">
                <a:solidFill>
                  <a:srgbClr val="275D96"/>
                </a:solidFill>
                <a:latin typeface="Aptos"/>
              </a:rPr>
              <a:t>1</a:t>
            </a:r>
          </a:p>
        </p:txBody>
      </p:sp>
      <p:sp>
        <p:nvSpPr>
          <p:cNvPr id="25" name="TextBox 24"/>
          <p:cNvSpPr txBox="1">
            <a:spLocks/>
          </p:cNvSpPr>
          <p:nvPr/>
        </p:nvSpPr>
        <p:spPr>
          <a:xfrm>
            <a:off x="6460234" y="4165090"/>
            <a:ext cx="1312163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dirty="0" err="1">
                <a:solidFill>
                  <a:srgbClr val="222A34"/>
                </a:solidFill>
                <a:latin typeface="Aptos"/>
              </a:rPr>
              <a:t>Catálogo</a:t>
            </a:r>
            <a:endParaRPr sz="1000" b="1" dirty="0">
              <a:solidFill>
                <a:srgbClr val="222A34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046719" y="4023360"/>
            <a:ext cx="1508760" cy="566928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19871" y="4169664"/>
            <a:ext cx="256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dirty="0">
                <a:solidFill>
                  <a:srgbClr val="275D96"/>
                </a:solidFill>
                <a:latin typeface="Aptos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6691" y="4177079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dirty="0" err="1">
                <a:solidFill>
                  <a:srgbClr val="222A34"/>
                </a:solidFill>
                <a:latin typeface="Aptos"/>
              </a:rPr>
              <a:t>Carrinho</a:t>
            </a:r>
            <a:endParaRPr sz="1000" b="1" dirty="0">
              <a:solidFill>
                <a:srgbClr val="222A34"/>
              </a:solidFill>
              <a:latin typeface="Apto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9829800" y="4023360"/>
            <a:ext cx="1508760" cy="566928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902952" y="4169664"/>
            <a:ext cx="256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dirty="0">
                <a:solidFill>
                  <a:srgbClr val="275D96"/>
                </a:solidFill>
                <a:latin typeface="Aptos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58984" y="4186151"/>
            <a:ext cx="955964" cy="2078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dirty="0">
                <a:solidFill>
                  <a:srgbClr val="222A34"/>
                </a:solidFill>
                <a:latin typeface="Aptos"/>
              </a:rPr>
              <a:t>Checkout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4937760"/>
            <a:ext cx="1508760" cy="566928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36792" y="5010912"/>
            <a:ext cx="256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75D96"/>
                </a:solidFill>
                <a:latin typeface="Aptos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11112" y="502920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dirty="0" err="1">
                <a:solidFill>
                  <a:srgbClr val="222A34"/>
                </a:solidFill>
                <a:latin typeface="Aptos"/>
              </a:rPr>
              <a:t>Pagamento</a:t>
            </a:r>
            <a:endParaRPr sz="1000" b="1" dirty="0">
              <a:solidFill>
                <a:srgbClr val="222A34"/>
              </a:solidFill>
              <a:latin typeface="Aptos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8046719" y="4937760"/>
            <a:ext cx="1508760" cy="566928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119871" y="5010912"/>
            <a:ext cx="256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75D96"/>
                </a:solidFill>
                <a:latin typeface="Aptos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94192" y="502920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22A34"/>
                </a:solidFill>
                <a:latin typeface="Aptos"/>
              </a:rPr>
              <a:t>Matrícula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829800" y="4937760"/>
            <a:ext cx="1508760" cy="566928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902952" y="5010912"/>
            <a:ext cx="256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75D96"/>
                </a:solidFill>
                <a:latin typeface="Aptos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77272" y="502920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dirty="0" err="1">
                <a:solidFill>
                  <a:srgbClr val="222A34"/>
                </a:solidFill>
                <a:latin typeface="Aptos"/>
              </a:rPr>
              <a:t>Conteúdo</a:t>
            </a:r>
            <a:endParaRPr sz="1000" b="1" dirty="0">
              <a:solidFill>
                <a:srgbClr val="222A3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5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82B48"/>
                </a:solidFill>
                <a:latin typeface="Aptos Display"/>
              </a:rPr>
              <a:t>2. Requisitos funcionais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87789"/>
                </a:solidFill>
              </a:rPr>
              <a:t>Matriz resumida e critérios de aceitação dos fluxos críticos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2823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87789"/>
                </a:solidFill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42900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64008" cy="1691640"/>
          </a:xfrm>
          <a:prstGeom prst="rect">
            <a:avLst/>
          </a:prstGeom>
          <a:solidFill>
            <a:srgbClr val="275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517904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2B48"/>
                </a:solidFill>
                <a:latin typeface="Aptos"/>
              </a:rPr>
              <a:t>RF01–RF04 • Usuários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31089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A34"/>
                </a:solidFill>
                <a:latin typeface="Aptos"/>
              </a:rPr>
              <a:t>Cadastro, login, perfil e recuperação de senha.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371600"/>
            <a:ext cx="342900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371600"/>
            <a:ext cx="64008" cy="1691640"/>
          </a:xfrm>
          <a:prstGeom prst="rect">
            <a:avLst/>
          </a:prstGeom>
          <a:solidFill>
            <a:srgbClr val="409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1517904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2B48"/>
                </a:solidFill>
                <a:latin typeface="Aptos"/>
              </a:rPr>
              <a:t>RF05–RF09 • Cursos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901952"/>
            <a:ext cx="31089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A34"/>
                </a:solidFill>
                <a:latin typeface="Aptos"/>
              </a:rPr>
              <a:t>Catálogo, categorias, pré-requisitos e aprovação.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371600"/>
            <a:ext cx="342900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1371600"/>
            <a:ext cx="64008" cy="1691640"/>
          </a:xfrm>
          <a:prstGeom prst="rect">
            <a:avLst/>
          </a:prstGeom>
          <a:solidFill>
            <a:srgbClr val="398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1517904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2B48"/>
                </a:solidFill>
                <a:latin typeface="Aptos"/>
              </a:rPr>
              <a:t>RF10–RF11 • Conteúdo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901952"/>
            <a:ext cx="31089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A34"/>
                </a:solidFill>
                <a:latin typeface="Aptos"/>
              </a:rPr>
              <a:t>Upload e organização em módulos/capítulos.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429000"/>
            <a:ext cx="342900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" y="3429000"/>
            <a:ext cx="64008" cy="1691640"/>
          </a:xfrm>
          <a:prstGeom prst="rect">
            <a:avLst/>
          </a:prstGeom>
          <a:solidFill>
            <a:srgbClr val="DD8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3575304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2B48"/>
                </a:solidFill>
                <a:latin typeface="Aptos"/>
              </a:rPr>
              <a:t>RF12–RF16 • Compra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959352"/>
            <a:ext cx="31089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A34"/>
                </a:solidFill>
                <a:latin typeface="Aptos"/>
              </a:rPr>
              <a:t>Carrinho, checkout, pagamento, pedido e reembolso.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3429000"/>
            <a:ext cx="342900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43400" y="3429000"/>
            <a:ext cx="64008" cy="1691640"/>
          </a:xfrm>
          <a:prstGeom prst="rect">
            <a:avLst/>
          </a:prstGeom>
          <a:solidFill>
            <a:srgbClr val="275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26280" y="3575304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2B48"/>
                </a:solidFill>
                <a:latin typeface="Aptos"/>
              </a:rPr>
              <a:t>RF17–RF20 • Acesso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3959352"/>
            <a:ext cx="31089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A34"/>
                </a:solidFill>
                <a:latin typeface="Aptos"/>
              </a:rPr>
              <a:t>Matrícula, progresso, certificados e controle de acesso.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3429000"/>
            <a:ext cx="342900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138160" y="3429000"/>
            <a:ext cx="64008" cy="1691640"/>
          </a:xfrm>
          <a:prstGeom prst="rect">
            <a:avLst/>
          </a:prstGeom>
          <a:solidFill>
            <a:srgbClr val="409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21040" y="3575304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2B48"/>
                </a:solidFill>
                <a:latin typeface="Aptos"/>
              </a:rPr>
              <a:t>RF21–RF24 • Engajamento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959352"/>
            <a:ext cx="31089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A34"/>
                </a:solidFill>
                <a:latin typeface="Aptos"/>
              </a:rPr>
              <a:t>Avaliações, notificações, suporte e relatórios.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6692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82B48"/>
                </a:solidFill>
                <a:latin typeface="Aptos"/>
              </a:rPr>
              <a:t>Critério de aceitação: cada requisito deve produzir um resultado observável e testável.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5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82B48"/>
                </a:solidFill>
                <a:latin typeface="Aptos Display"/>
              </a:rPr>
              <a:t>3. Requisitos não funcionais e métricas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87789"/>
                </a:solidFill>
              </a:rPr>
              <a:t>Qualidade mensurável para desempenho, segurança, disponibilidade e manutenção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2823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87789"/>
                </a:solidFill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166360" cy="128016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64008" cy="1280160"/>
          </a:xfrm>
          <a:prstGeom prst="rect">
            <a:avLst/>
          </a:prstGeom>
          <a:solidFill>
            <a:srgbClr val="275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426463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2B48"/>
                </a:solidFill>
                <a:latin typeface="Aptos"/>
              </a:rPr>
              <a:t>Desempenho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10512"/>
            <a:ext cx="4846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A34"/>
                </a:solidFill>
                <a:latin typeface="Aptos"/>
              </a:rPr>
              <a:t>Meta de resposta para operações críticas e carregamento eficiente de conteúdo.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280160"/>
            <a:ext cx="5166360" cy="128016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280160"/>
            <a:ext cx="64008" cy="1280160"/>
          </a:xfrm>
          <a:prstGeom prst="rect">
            <a:avLst/>
          </a:prstGeom>
          <a:solidFill>
            <a:srgbClr val="409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1426463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2B48"/>
                </a:solidFill>
                <a:latin typeface="Aptos"/>
              </a:rPr>
              <a:t>Escalabilidade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810512"/>
            <a:ext cx="4846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A34"/>
                </a:solidFill>
                <a:latin typeface="Aptos"/>
              </a:rPr>
              <a:t>Arquitetura preparada para crescimento de usuários e volume de conteúdo.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880360"/>
            <a:ext cx="5166360" cy="128016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2880360"/>
            <a:ext cx="64008" cy="1280160"/>
          </a:xfrm>
          <a:prstGeom prst="rect">
            <a:avLst/>
          </a:prstGeom>
          <a:solidFill>
            <a:srgbClr val="BA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3026664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2B48"/>
                </a:solidFill>
                <a:latin typeface="Aptos"/>
              </a:rPr>
              <a:t>Segurança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410712"/>
            <a:ext cx="4846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A34"/>
                </a:solidFill>
                <a:latin typeface="Aptos"/>
              </a:rPr>
              <a:t>Criptografia, RBAC e proteção contra SQL Injection, XSS e CSRF.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2880360"/>
            <a:ext cx="5166360" cy="128016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72200" y="2880360"/>
            <a:ext cx="64008" cy="1280160"/>
          </a:xfrm>
          <a:prstGeom prst="rect">
            <a:avLst/>
          </a:prstGeom>
          <a:solidFill>
            <a:srgbClr val="398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5080" y="3026664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2B48"/>
                </a:solidFill>
                <a:latin typeface="Aptos"/>
              </a:rPr>
              <a:t>Disponibilidade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410712"/>
            <a:ext cx="4846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A34"/>
                </a:solidFill>
                <a:latin typeface="Aptos"/>
              </a:rPr>
              <a:t>SLA de 99,9%, backup e recuperação de dados.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80560"/>
            <a:ext cx="5166360" cy="128016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8640" y="4480560"/>
            <a:ext cx="64008" cy="1280160"/>
          </a:xfrm>
          <a:prstGeom prst="rect">
            <a:avLst/>
          </a:prstGeom>
          <a:solidFill>
            <a:srgbClr val="DD8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4626864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2B48"/>
                </a:solidFill>
                <a:latin typeface="Aptos"/>
              </a:rPr>
              <a:t>UX/UI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010912"/>
            <a:ext cx="4846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A34"/>
                </a:solidFill>
                <a:latin typeface="Aptos"/>
              </a:rPr>
              <a:t>Interface responsiva e navegação simplificada.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4480560"/>
            <a:ext cx="5166360" cy="128016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172200" y="4480560"/>
            <a:ext cx="64008" cy="1280160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55080" y="4626864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2B48"/>
                </a:solidFill>
                <a:latin typeface="Aptos"/>
              </a:rPr>
              <a:t>Conformidade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5010912"/>
            <a:ext cx="4846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A34"/>
                </a:solidFill>
                <a:latin typeface="Aptos"/>
              </a:rPr>
              <a:t>LGPD/GDPR, política de privacidade e termos de uso.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144768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87789"/>
                </a:solidFill>
                <a:latin typeface="Aptos"/>
              </a:rPr>
              <a:t>Exemplos de validação: teste de carga • teste de autorização • teste de restauração • inspeção de logs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5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82B48"/>
                </a:solidFill>
                <a:latin typeface="Aptos Display"/>
              </a:rPr>
              <a:t>4. Modelagem de dados — 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87789"/>
                </a:solidFill>
              </a:rPr>
              <a:t>Principais entidades do e-commerce B2C e seus relacionamentos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2823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87789"/>
                </a:solidFill>
              </a:rPr>
              <a:t>5</a:t>
            </a:r>
          </a:p>
        </p:txBody>
      </p:sp>
      <p:pic>
        <p:nvPicPr>
          <p:cNvPr id="7" name="Picture 6" descr="DER_Ecommerce_B2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236" y="1247084"/>
            <a:ext cx="10012487" cy="50496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35508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87789"/>
                </a:solidFill>
                <a:latin typeface="Aptos"/>
              </a:rPr>
              <a:t>Entidades centrais: Usuário • Curso • Conteúdo • Carrinho • Pedido • Pagamento • Matrícula • Progresso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5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82B48"/>
                </a:solidFill>
                <a:latin typeface="Aptos Display"/>
              </a:rPr>
              <a:t>5. Arquitetura de código e regras de negócio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87789"/>
                </a:solidFill>
              </a:rPr>
              <a:t>Separação por camadas e principais responsabilidades do domínio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2823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87789"/>
                </a:solidFill>
              </a:rPr>
              <a:t>6</a:t>
            </a:r>
          </a:p>
        </p:txBody>
      </p:sp>
      <p:pic>
        <p:nvPicPr>
          <p:cNvPr id="7" name="Picture 6" descr="Diagrama_Classes_Ecommerce_B2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675120" cy="443345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269480" y="1325880"/>
            <a:ext cx="429768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269480" y="1325880"/>
            <a:ext cx="64008" cy="1234440"/>
          </a:xfrm>
          <a:prstGeom prst="rect">
            <a:avLst/>
          </a:prstGeom>
          <a:solidFill>
            <a:srgbClr val="275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52360" y="1472184"/>
            <a:ext cx="3977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2B48"/>
                </a:solidFill>
                <a:latin typeface="Aptos"/>
              </a:rPr>
              <a:t>Arquitetura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1856231"/>
            <a:ext cx="39776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Aptos"/>
              </a:rPr>
              <a:t>Apresentação → Aplicação → Domínio → Infraestrutura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9480" y="2788920"/>
            <a:ext cx="429768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269480" y="2788920"/>
            <a:ext cx="64008" cy="1417320"/>
          </a:xfrm>
          <a:prstGeom prst="rect">
            <a:avLst/>
          </a:prstGeom>
          <a:solidFill>
            <a:srgbClr val="BA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52360" y="2935224"/>
            <a:ext cx="3977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2B48"/>
                </a:solidFill>
                <a:latin typeface="Aptos"/>
              </a:rPr>
              <a:t>Regras críticas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3319272"/>
            <a:ext cx="3977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A34"/>
                </a:solidFill>
                <a:latin typeface="Aptos"/>
              </a:rPr>
              <a:t>Pagamento confirmado libera matrícula; conteúdo pode exigir pré-requisito; progresso é individual; funções administrativas exigem autorização.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9480" y="4480560"/>
            <a:ext cx="429768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269480" y="4480560"/>
            <a:ext cx="64008" cy="1417320"/>
          </a:xfrm>
          <a:prstGeom prst="rect">
            <a:avLst/>
          </a:prstGeom>
          <a:solidFill>
            <a:srgbClr val="398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52360" y="4626864"/>
            <a:ext cx="3977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2B48"/>
                </a:solidFill>
                <a:latin typeface="Aptos"/>
              </a:rPr>
              <a:t>Qualidade de código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5010912"/>
            <a:ext cx="3977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A34"/>
                </a:solidFill>
                <a:latin typeface="Aptos"/>
              </a:rPr>
              <a:t>Domínio independente de integrações; serviços externos isolados por interfaces; testes unitários para regras de negócio.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5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82B48"/>
                </a:solidFill>
                <a:latin typeface="Aptos Display"/>
              </a:rPr>
              <a:t>6. Repositório, versionamento e CI/CD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87789"/>
                </a:solidFill>
              </a:rPr>
              <a:t>Estratégia colaborativa para reduzir erros e manter rastreabilidade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2823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87789"/>
                </a:solidFill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82B48"/>
                </a:solidFill>
                <a:latin typeface="Aptos"/>
              </a:rPr>
              <a:t>Estratégia de branches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201168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275D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1938528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75D96"/>
                </a:solidFill>
                <a:latin typeface="Aptos"/>
              </a:rPr>
              <a:t>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176272"/>
            <a:ext cx="1783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87789"/>
                </a:solidFill>
                <a:latin typeface="Aptos"/>
              </a:rPr>
              <a:t>estável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1828800"/>
            <a:ext cx="201168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409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27248" y="1938528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4099B4"/>
                </a:solidFill>
                <a:latin typeface="Aptos"/>
              </a:rPr>
              <a:t>develop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2176272"/>
            <a:ext cx="1783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87789"/>
                </a:solidFill>
                <a:latin typeface="Aptos"/>
              </a:rPr>
              <a:t>integração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788920"/>
            <a:ext cx="201168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398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5528" y="2898648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39875B"/>
                </a:solidFill>
                <a:latin typeface="Aptos"/>
              </a:rPr>
              <a:t>feature/*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3136391"/>
            <a:ext cx="1783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87789"/>
                </a:solidFill>
                <a:latin typeface="Aptos"/>
              </a:rPr>
              <a:t>funcionalidades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2788920"/>
            <a:ext cx="201168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DD87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127248" y="2898648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DD8734"/>
                </a:solidFill>
                <a:latin typeface="Aptos"/>
              </a:rPr>
              <a:t>fix/*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3136391"/>
            <a:ext cx="1783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87789"/>
                </a:solidFill>
                <a:latin typeface="Aptos"/>
              </a:rPr>
              <a:t>correções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977639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82B48"/>
                </a:solidFill>
                <a:latin typeface="Aptos"/>
              </a:rPr>
              <a:t>Convenção de commits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389120"/>
            <a:ext cx="49377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22A34"/>
                </a:solidFill>
                <a:latin typeface="Aptos"/>
              </a:defRPr>
            </a:pPr>
            <a:r>
              <a:t>• feat: nova funcionalidade</a:t>
            </a:r>
          </a:p>
          <a:p>
            <a:pPr>
              <a:spcAft>
                <a:spcPts val="600"/>
              </a:spcAft>
              <a:defRPr sz="1200">
                <a:solidFill>
                  <a:srgbClr val="222A34"/>
                </a:solidFill>
                <a:latin typeface="Aptos"/>
              </a:defRPr>
            </a:pPr>
            <a:r>
              <a:t>• fix: correção de defeito</a:t>
            </a:r>
          </a:p>
          <a:p>
            <a:pPr>
              <a:spcAft>
                <a:spcPts val="600"/>
              </a:spcAft>
              <a:defRPr sz="1200">
                <a:solidFill>
                  <a:srgbClr val="222A34"/>
                </a:solidFill>
                <a:latin typeface="Aptos"/>
              </a:defRPr>
            </a:pPr>
            <a:r>
              <a:t>• test: inclusão de testes</a:t>
            </a:r>
          </a:p>
          <a:p>
            <a:pPr>
              <a:spcAft>
                <a:spcPts val="600"/>
              </a:spcAft>
              <a:defRPr sz="1200">
                <a:solidFill>
                  <a:srgbClr val="222A34"/>
                </a:solidFill>
                <a:latin typeface="Aptos"/>
              </a:defRPr>
            </a:pPr>
            <a:r>
              <a:t>• docs: atualização documental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128016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82B48"/>
                </a:solidFill>
                <a:latin typeface="Aptos"/>
              </a:rPr>
              <a:t>Critérios para merge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1737360"/>
            <a:ext cx="51206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22A34"/>
                </a:solidFill>
                <a:latin typeface="Aptos"/>
              </a:defRPr>
            </a:pPr>
            <a:r>
              <a:t>• Pull Request associado a requisito/correção</a:t>
            </a:r>
          </a:p>
          <a:p>
            <a:pPr>
              <a:spcAft>
                <a:spcPts val="600"/>
              </a:spcAft>
              <a:defRPr sz="1300">
                <a:solidFill>
                  <a:srgbClr val="222A34"/>
                </a:solidFill>
                <a:latin typeface="Aptos"/>
              </a:defRPr>
            </a:pPr>
            <a:r>
              <a:t>• Build sem erros</a:t>
            </a:r>
          </a:p>
          <a:p>
            <a:pPr>
              <a:spcAft>
                <a:spcPts val="600"/>
              </a:spcAft>
              <a:defRPr sz="1300">
                <a:solidFill>
                  <a:srgbClr val="222A34"/>
                </a:solidFill>
                <a:latin typeface="Aptos"/>
              </a:defRPr>
            </a:pPr>
            <a:r>
              <a:t>• Testes automatizados aprovados</a:t>
            </a:r>
          </a:p>
          <a:p>
            <a:pPr>
              <a:spcAft>
                <a:spcPts val="600"/>
              </a:spcAft>
              <a:defRPr sz="1300">
                <a:solidFill>
                  <a:srgbClr val="222A34"/>
                </a:solidFill>
                <a:latin typeface="Aptos"/>
              </a:defRPr>
            </a:pPr>
            <a:r>
              <a:t>• Code Review por pelo menos 1 integrante</a:t>
            </a:r>
          </a:p>
          <a:p>
            <a:pPr>
              <a:spcAft>
                <a:spcPts val="600"/>
              </a:spcAft>
              <a:defRPr sz="1300">
                <a:solidFill>
                  <a:srgbClr val="222A34"/>
                </a:solidFill>
                <a:latin typeface="Aptos"/>
              </a:defRPr>
            </a:pPr>
            <a:r>
              <a:t>• Sem conflitos e sem credenciais versionadas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320" y="406908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82B48"/>
                </a:solidFill>
                <a:latin typeface="Aptos"/>
              </a:rPr>
              <a:t>Pipeline CI/CD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0" y="4572000"/>
            <a:ext cx="914400" cy="594360"/>
          </a:xfrm>
          <a:prstGeom prst="roundRect">
            <a:avLst/>
          </a:prstGeom>
          <a:solidFill>
            <a:srgbClr val="F2F6FA"/>
          </a:solidFill>
          <a:ln>
            <a:solidFill>
              <a:srgbClr val="275D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53327" y="4727448"/>
            <a:ext cx="8778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222A34"/>
                </a:solidFill>
                <a:latin typeface="Aptos"/>
              </a:rPr>
              <a:t>Push/PR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4572000"/>
            <a:ext cx="914400" cy="594360"/>
          </a:xfrm>
          <a:prstGeom prst="roundRect">
            <a:avLst/>
          </a:prstGeom>
          <a:solidFill>
            <a:srgbClr val="F2F6FA"/>
          </a:solidFill>
          <a:ln>
            <a:solidFill>
              <a:srgbClr val="275D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23175" y="4727448"/>
            <a:ext cx="8778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222A34"/>
                </a:solidFill>
                <a:latin typeface="Aptos"/>
              </a:rPr>
              <a:t>Build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74736" y="4572000"/>
            <a:ext cx="914400" cy="594360"/>
          </a:xfrm>
          <a:prstGeom prst="roundRect">
            <a:avLst/>
          </a:prstGeom>
          <a:solidFill>
            <a:srgbClr val="F2F6FA"/>
          </a:solidFill>
          <a:ln>
            <a:solidFill>
              <a:srgbClr val="275D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93023" y="4727448"/>
            <a:ext cx="8778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222A34"/>
                </a:solidFill>
                <a:latin typeface="Aptos"/>
              </a:rPr>
              <a:t>Testes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44584" y="4572000"/>
            <a:ext cx="914400" cy="594360"/>
          </a:xfrm>
          <a:prstGeom prst="roundRect">
            <a:avLst/>
          </a:prstGeom>
          <a:solidFill>
            <a:srgbClr val="F2F6FA"/>
          </a:solidFill>
          <a:ln>
            <a:solidFill>
              <a:srgbClr val="275D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62872" y="4727448"/>
            <a:ext cx="8778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222A34"/>
                </a:solidFill>
                <a:latin typeface="Aptos"/>
              </a:rPr>
              <a:t>Segurança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14432" y="4572000"/>
            <a:ext cx="914400" cy="594360"/>
          </a:xfrm>
          <a:prstGeom prst="roundRect">
            <a:avLst/>
          </a:prstGeom>
          <a:solidFill>
            <a:srgbClr val="F2F6FA"/>
          </a:solidFill>
          <a:ln>
            <a:solidFill>
              <a:srgbClr val="275D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332719" y="4727448"/>
            <a:ext cx="8778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222A34"/>
                </a:solidFill>
                <a:latin typeface="Aptos"/>
              </a:rPr>
              <a:t>Homologação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5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82B48"/>
                </a:solidFill>
                <a:latin typeface="Aptos Display"/>
              </a:rPr>
              <a:t>7. Plano de QA e cenários de teste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87789"/>
                </a:solidFill>
              </a:rPr>
              <a:t>Validação dos fluxos críticos e rastreabilidade requisito → teste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2823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87789"/>
                </a:solidFill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3474720" cy="160020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554479"/>
            <a:ext cx="64008" cy="1143000"/>
          </a:xfrm>
          <a:prstGeom prst="rect">
            <a:avLst/>
          </a:prstGeom>
          <a:solidFill>
            <a:srgbClr val="275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472184"/>
            <a:ext cx="31546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2B48"/>
                </a:solidFill>
                <a:latin typeface="Aptos"/>
              </a:rPr>
              <a:t>CT01 • Cadastro/Login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56231"/>
            <a:ext cx="3154679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A34"/>
                </a:solidFill>
                <a:latin typeface="Aptos"/>
              </a:rPr>
              <a:t>Dados válidos → conta criada e usuário autenticado.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1325880"/>
            <a:ext cx="3474720" cy="160020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25112" y="1325880"/>
            <a:ext cx="64008" cy="1600200"/>
          </a:xfrm>
          <a:prstGeom prst="rect">
            <a:avLst/>
          </a:prstGeom>
          <a:solidFill>
            <a:srgbClr val="398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07992" y="1472184"/>
            <a:ext cx="31546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2B48"/>
                </a:solidFill>
                <a:latin typeface="Aptos"/>
              </a:rPr>
              <a:t>CT02 • Compra/Pagamento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1856231"/>
            <a:ext cx="3154679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A34"/>
                </a:solidFill>
                <a:latin typeface="Aptos"/>
              </a:rPr>
              <a:t>Checkout + pagamento aprovado → pedido confirmado e acesso liberado.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47304" y="1325880"/>
            <a:ext cx="3474720" cy="160020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47304" y="1325880"/>
            <a:ext cx="64008" cy="1600200"/>
          </a:xfrm>
          <a:prstGeom prst="rect">
            <a:avLst/>
          </a:prstGeom>
          <a:solidFill>
            <a:srgbClr val="BA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0183" y="1472184"/>
            <a:ext cx="31546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2B48"/>
                </a:solidFill>
                <a:latin typeface="Aptos"/>
              </a:rPr>
              <a:t>CT03 • Controle de acesso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3" y="1856231"/>
            <a:ext cx="3154679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A34"/>
                </a:solidFill>
                <a:latin typeface="Aptos"/>
              </a:rPr>
              <a:t>Capítulo sem pré-requisito concluído → acesso bloqueado.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291839"/>
            <a:ext cx="3474720" cy="160020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3291839"/>
            <a:ext cx="64008" cy="1600200"/>
          </a:xfrm>
          <a:prstGeom prst="rect">
            <a:avLst/>
          </a:prstGeom>
          <a:solidFill>
            <a:srgbClr val="DD8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438144"/>
            <a:ext cx="31546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2B48"/>
                </a:solidFill>
                <a:latin typeface="Aptos"/>
              </a:rPr>
              <a:t>CT04 • Curso reprovado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822191"/>
            <a:ext cx="3154679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A34"/>
                </a:solidFill>
                <a:latin typeface="Aptos"/>
              </a:rPr>
              <a:t>Administrador reprova → curso não aparece como publicado.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5112" y="3291839"/>
            <a:ext cx="3474720" cy="160020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25112" y="3291839"/>
            <a:ext cx="64008" cy="1600200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07992" y="3438144"/>
            <a:ext cx="31546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2B48"/>
                </a:solidFill>
                <a:latin typeface="Aptos"/>
              </a:rPr>
              <a:t>CT05 • Autorização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07992" y="3822191"/>
            <a:ext cx="3154679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A34"/>
                </a:solidFill>
                <a:latin typeface="Aptos"/>
              </a:rPr>
              <a:t>Cliente tenta função administrativa → acesso negado.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47304" y="3291839"/>
            <a:ext cx="3474720" cy="160020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147304" y="3291839"/>
            <a:ext cx="64008" cy="1600200"/>
          </a:xfrm>
          <a:prstGeom prst="rect">
            <a:avLst/>
          </a:prstGeom>
          <a:solidFill>
            <a:srgbClr val="409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30183" y="3438144"/>
            <a:ext cx="31546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2B48"/>
                </a:solidFill>
                <a:latin typeface="Aptos"/>
              </a:rPr>
              <a:t>CT06 • Carrinho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0183" y="3822191"/>
            <a:ext cx="3154679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A34"/>
                </a:solidFill>
                <a:latin typeface="Aptos"/>
              </a:rPr>
              <a:t>Adicionar/remover itens → total recalculado corretamente.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54864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82B48"/>
                </a:solidFill>
                <a:latin typeface="Aptos"/>
              </a:rPr>
              <a:t>Tipos de teste: unitário • integração • sistema • segurança • desempenho • usabilidade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89788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87789"/>
                </a:solidFill>
                <a:latin typeface="Aptos"/>
              </a:rPr>
              <a:t>Exemplo de rastreabilidade: RF14 Pagamento → CT02 Compra/Pagamento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701926"/>
            <a:ext cx="11049000" cy="6191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991076"/>
            <a:ext cx="11049000" cy="390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945927"/>
            <a:ext cx="3555950" cy="20383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7950" y="1945927"/>
            <a:ext cx="3555950" cy="20383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4400" y="1945927"/>
            <a:ext cx="3556099" cy="2038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1525" y="509587"/>
            <a:ext cx="116205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00BCD4"/>
                </a:solidFill>
                <a:latin typeface="Inter"/>
              </a:rPr>
              <a:t>8. CONCLUSÃO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738187"/>
            <a:ext cx="11601450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Poppins"/>
              </a:rPr>
              <a:t>Visão Integrada do Ciclo do Produto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1202977"/>
            <a:ext cx="9525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O projeto consolida a maturidade do produto, conectando a engenharia de requisitos à garantia de qualidade e automação contínua de entrega.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523875"/>
            <a:ext cx="123825" cy="1238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250" y="4882901"/>
            <a:ext cx="1695450" cy="2571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743200" y="4921448"/>
            <a:ext cx="8277225" cy="179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0" i="0" u="none">
                <a:solidFill>
                  <a:srgbClr val="475569"/>
                </a:solidFill>
                <a:latin typeface="Inter"/>
              </a:rPr>
              <a:t>Segurança nas compras, consistência no fluxo de pagamento, proteção de direitos autorais e governança no repositório compartilhado.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0" y="6143476"/>
            <a:ext cx="2095500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0891B2"/>
                </a:solidFill>
                <a:latin typeface="Poppins"/>
              </a:rPr>
              <a:t>Obrigado! Perguntas?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625" y="2212627"/>
            <a:ext cx="419100" cy="4191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9625" y="2746027"/>
            <a:ext cx="323368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Poppins SemiBold"/>
              </a:rPr>
              <a:t>Requisitos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25" y="3146077"/>
            <a:ext cx="30797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Critérios de aceitação claros, rastreabilidade e escopo detalhado para cada funcionalidade.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56075" y="2212627"/>
            <a:ext cx="419100" cy="4191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56075" y="2746027"/>
            <a:ext cx="323368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Poppins SemiBold"/>
              </a:rPr>
              <a:t>Modelagem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6075" y="3146077"/>
            <a:ext cx="30797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Arquitetura de dados (DER), modelagem orientada a objetos e regras consistentes de negócio.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02525" y="2212627"/>
            <a:ext cx="419100" cy="4191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302525" y="2746027"/>
            <a:ext cx="3233841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Poppins SemiBold"/>
              </a:rPr>
              <a:t>Qualidade &amp; QA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525" y="3146077"/>
            <a:ext cx="3079849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Estratégia de testes estruturada, boas práticas com Git e pipeline de integração/entrega contínua (CI/CD).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1550" y="4959101"/>
            <a:ext cx="123825" cy="1143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6200626"/>
            <a:ext cx="152400" cy="12382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00100" y="6186338"/>
            <a:ext cx="2266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StudyFlow • Centro Universitário UNA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430000" y="6186338"/>
            <a:ext cx="190500" cy="1524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3925" y="2326927"/>
            <a:ext cx="190500" cy="1905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56087" y="2326927"/>
            <a:ext cx="219075" cy="1905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16825" y="2326927"/>
            <a:ext cx="190500" cy="19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414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461</TotalTime>
  <Words>788</Words>
  <Application>Microsoft Office PowerPoint</Application>
  <PresentationFormat>Widescreen</PresentationFormat>
  <Paragraphs>133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Inter</vt:lpstr>
      <vt:lpstr>Inter Medium</vt:lpstr>
      <vt:lpstr>Poppins</vt:lpstr>
      <vt:lpstr>Poppins SemiBold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B2C — Garantia da Qualidade de Software</dc:title>
  <dc:subject>Apresentação da Atividade III</dc:subject>
  <dc:creator>Grupo — Centro Universitário UNA</dc:creator>
  <cp:keywords>E-commerce B2C, requisitos, DER, UML, QA, CI/CD, Git</cp:keywords>
  <dc:description>generated using python-pptx</dc:description>
  <cp:lastModifiedBy>Kauan de Andrade Oliveira</cp:lastModifiedBy>
  <cp:revision>3</cp:revision>
  <dcterms:created xsi:type="dcterms:W3CDTF">2013-01-27T09:14:16Z</dcterms:created>
  <dcterms:modified xsi:type="dcterms:W3CDTF">2026-08-27T22:39:59Z</dcterms:modified>
  <cp:category/>
</cp:coreProperties>
</file>